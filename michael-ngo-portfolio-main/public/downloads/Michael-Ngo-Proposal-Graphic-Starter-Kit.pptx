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9e2ab5a864e58" /><Relationship Type="http://schemas.openxmlformats.org/officeDocument/2006/relationships/extended-properties" Target="/docProps/app.xml" Id="R1ff4418cf0bd47f9" /><Relationship Type="http://schemas.openxmlformats.org/officeDocument/2006/relationships/officeDocument" Target="/ppt/presentation.xml" Id="Re583e1060c3d47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c1666d3cff4ac8"/>
  </p:sldMasterIdLst>
  <p:notesMasterIdLst>
    <p:notesMasterId xmlns:r="http://schemas.openxmlformats.org/officeDocument/2006/relationships" r:id="R3303d0350c6c4955"/>
  </p:notesMasterIdLst>
  <p:sldIdLst>
    <p:sldId xmlns:r="http://schemas.openxmlformats.org/officeDocument/2006/relationships" id="256" r:id="R27dc887386db43c6"/>
    <p:sldId xmlns:r="http://schemas.openxmlformats.org/officeDocument/2006/relationships" id="257" r:id="R7502d07b501b4f43"/>
    <p:sldId xmlns:r="http://schemas.openxmlformats.org/officeDocument/2006/relationships" id="258" r:id="R4d03eef46b884d25"/>
    <p:sldId xmlns:r="http://schemas.openxmlformats.org/officeDocument/2006/relationships" id="259" r:id="Ra50da280ae114654"/>
    <p:sldId xmlns:r="http://schemas.openxmlformats.org/officeDocument/2006/relationships" id="260" r:id="Rd8880c9a05c9482c"/>
    <p:sldId xmlns:r="http://schemas.openxmlformats.org/officeDocument/2006/relationships" id="261" r:id="R21b6e36aa8de4af7"/>
    <p:sldId xmlns:r="http://schemas.openxmlformats.org/officeDocument/2006/relationships" id="262" r:id="Rc48a47460cd2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b8ac254ac49b8" /><Relationship Type="http://schemas.openxmlformats.org/officeDocument/2006/relationships/slideMaster" Target="/ppt/slideMasters/slideMaster1.xml" Id="Re3c1666d3cff4ac8" /><Relationship Type="http://schemas.openxmlformats.org/officeDocument/2006/relationships/notesMaster" Target="/ppt/notesMasters/notesMaster1.xml" Id="R3303d0350c6c4955" /><Relationship Type="http://schemas.openxmlformats.org/officeDocument/2006/relationships/presProps" Target="/ppt/presProps.xml" Id="R357d7fbd420f4aa2" /><Relationship Type="http://schemas.openxmlformats.org/officeDocument/2006/relationships/tableStyles" Target="/ppt/tableStyles.xml" Id="R7776f39659d54e79" /><Relationship Type="http://schemas.openxmlformats.org/officeDocument/2006/relationships/slide" Target="/ppt/slides/slide1.xml" Id="R27dc887386db43c6" /><Relationship Type="http://schemas.openxmlformats.org/officeDocument/2006/relationships/slide" Target="/ppt/slides/slide2.xml" Id="R7502d07b501b4f43" /><Relationship Type="http://schemas.openxmlformats.org/officeDocument/2006/relationships/slide" Target="/ppt/slides/slide3.xml" Id="R4d03eef46b884d25" /><Relationship Type="http://schemas.openxmlformats.org/officeDocument/2006/relationships/slide" Target="/ppt/slides/slide4.xml" Id="Ra50da280ae114654" /><Relationship Type="http://schemas.openxmlformats.org/officeDocument/2006/relationships/slide" Target="/ppt/slides/slide5.xml" Id="Rd8880c9a05c9482c" /><Relationship Type="http://schemas.openxmlformats.org/officeDocument/2006/relationships/slide" Target="/ppt/slides/slide6.xml" Id="R21b6e36aa8de4af7" /><Relationship Type="http://schemas.openxmlformats.org/officeDocument/2006/relationships/slide" Target="/ppt/slides/slide7.xml" Id="Rc48a47460cd2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5aefeedfcf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02635cf1f2401a" /><Relationship Type="http://schemas.openxmlformats.org/officeDocument/2006/relationships/notesMaster" Target="/ppt/notesMasters/notesMaster1.xml" Id="R0be1344054b447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4f2160120f43ce" /><Relationship Type="http://schemas.openxmlformats.org/officeDocument/2006/relationships/notesMaster" Target="/ppt/notesMasters/notesMaster1.xml" Id="R810b4b52fa6949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bf9a8bfdd44b72" /><Relationship Type="http://schemas.openxmlformats.org/officeDocument/2006/relationships/notesMaster" Target="/ppt/notesMasters/notesMaster1.xml" Id="R739c2f13769f41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cc66c625f4bba" /><Relationship Type="http://schemas.openxmlformats.org/officeDocument/2006/relationships/notesMaster" Target="/ppt/notesMasters/notesMaster1.xml" Id="R7ca5dc49c98f4e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275f177624322" /><Relationship Type="http://schemas.openxmlformats.org/officeDocument/2006/relationships/notesMaster" Target="/ppt/notesMasters/notesMaster1.xml" Id="R7e1f0a5ac48b4b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f443aded7a4d9b" /><Relationship Type="http://schemas.openxmlformats.org/officeDocument/2006/relationships/notesMaster" Target="/ppt/notesMasters/notesMaster1.xml" Id="Rc02a1529c333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5040d544d445b" /><Relationship Type="http://schemas.openxmlformats.org/officeDocument/2006/relationships/notesMaster" Target="/ppt/notesMasters/notesMaster1.xml" Id="R29c509e7d96e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content is original and fictional. This starter kit accompanies Lessons From the Bid Desk #1 by Michael 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organizations, locations, distances, dates, and operating details shown are fictional and created for portfolio demonstration. All visual elements are editable PowerPoint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b92cc02a04a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b7da77a0ce4bda" /><Relationship Type="http://schemas.openxmlformats.org/officeDocument/2006/relationships/slideLayout" Target="/ppt/slideLayouts/slideLayout1.xml" Id="R10e8eddb7cd34f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e8eddb7cd34f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1421256f9442f" /><Relationship Type="http://schemas.openxmlformats.org/officeDocument/2006/relationships/notesSlide" Target="/ppt/notesSlides/notesSlide1.xml" Id="R60ee1c65b71b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75f34a2d54434" /><Relationship Type="http://schemas.openxmlformats.org/officeDocument/2006/relationships/notesSlide" Target="/ppt/notesSlides/notesSlide2.xml" Id="R3bf497bff1964d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ed25175d149d2" /><Relationship Type="http://schemas.openxmlformats.org/officeDocument/2006/relationships/notesSlide" Target="/ppt/notesSlides/notesSlide3.xml" Id="R31a13825f26446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bcce6eecf4678" /><Relationship Type="http://schemas.openxmlformats.org/officeDocument/2006/relationships/notesSlide" Target="/ppt/notesSlides/notesSlide4.xml" Id="R8424547f920f45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38ef78e254061" /><Relationship Type="http://schemas.openxmlformats.org/officeDocument/2006/relationships/notesSlide" Target="/ppt/notesSlides/notesSlide5.xml" Id="Rcdd2427a6aaa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628fbcff54072" /><Relationship Type="http://schemas.openxmlformats.org/officeDocument/2006/relationships/notesSlide" Target="/ppt/notesSlides/notesSlide6.xml" Id="R027d5183e3c245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20b50a3304717" /><Relationship Type="http://schemas.openxmlformats.org/officeDocument/2006/relationships/notesSlide" Target="/ppt/notesSlides/notesSlide7.xml" Id="Rdd8b7e4d7f0145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E7B7469-0FD4-4088-960C-2C1F019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B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CB7FF"/>
                </a:solidFill>
                <a:latin typeface="Aptos"/>
                <a:ea typeface="Aptos"/>
                <a:cs typeface="Aptos"/>
              </a:rPr>
              <a:t>LESSONS FROM THE BID DESK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A95FD4D-EDB6-48CB-BB33-5277E950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Proposal Graphic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Starter Kit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C3B25B-0634-418C-8815-0BFEDE7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AD8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AD8E8"/>
                </a:solidFill>
                <a:latin typeface="Aptos"/>
                <a:ea typeface="Aptos"/>
                <a:cs typeface="Aptos"/>
              </a:rPr>
              <a:t>Five editable ways to show the idea hiding inside the table.</a:t>
            </a:r>
          </a:p>
        </p:txBody>
      </p:sp>
      <p:sp>
        <p:nvSpPr>
          <p:cNvPr id="4" name="sample-table">
            <a:extLst xmlns:a="http://schemas.openxmlformats.org/drawingml/2006/main">
              <a:ext uri="{FF2B5EF4-FFF2-40B4-BE49-F238E27FC236}">
                <a16:creationId xmlns:a16="http://schemas.microsoft.com/office/drawing/2014/main" id="{C492ED37-9D24-4A0E-A531-17037448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5250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E7B6C1-03A2-4DE1-9AD0-1685745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INFORMATION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B3CFA-BD9B-4D20-A1FF-85B16272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2359D-5C43-414B-A15C-3FFE67D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383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F1DBD-EC72-472E-9B70-EF544B91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DD7C6-21D7-4F2A-A571-5A199BD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49C6-42CF-4610-B136-12F38051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33525"/>
            <a:ext cx="0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411A2-8D1E-4983-8E7E-74F940C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533525"/>
            <a:ext cx="0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92A9F-602A-4EF9-9AB4-65B6AC6B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533525"/>
            <a:ext cx="0" cy="1304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sample-graphic">
            <a:extLst xmlns:a="http://schemas.openxmlformats.org/drawingml/2006/main">
              <a:ext uri="{FF2B5EF4-FFF2-40B4-BE49-F238E27FC236}">
                <a16:creationId xmlns:a16="http://schemas.microsoft.com/office/drawing/2014/main" id="{4B07E2F0-C3F5-4954-875E-BE9D24A8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19500"/>
            <a:ext cx="4191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B4D"/>
          </a:solidFill>
          <a:ln xmlns:a="http://schemas.openxmlformats.org/drawingml/2006/main" w="9525">
            <a:solidFill>
              <a:srgbClr val="1F7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CB7E5-E54E-4718-8EB7-A9F004EE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529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E1532-4047-4789-BE70-C1FA5A2D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529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8FA32-9A2A-4494-94C5-4FA1EE9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529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B91854-A6A2-4316-92DF-48FB89E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C087B43-BABF-451A-81FD-DDB9FCD5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302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everything that can be a table should be a table.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3F3668-ADB6-44E7-9C28-E747CF6B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A5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5BD"/>
                </a:solidFill>
                <a:latin typeface="Aptos"/>
                <a:ea typeface="Aptos"/>
                <a:cs typeface="Aptos"/>
              </a:rPr>
              <a:t>Editable PowerPoint shapes  •  Fictional sample content</a:t>
            </a:r>
          </a:p>
        </p:txBody>
      </p:sp>
    </p:spTree>
    <p:extLst>
      <p:ext uri="{BB962C8B-B14F-4D97-AF65-F5344CB8AC3E}">
        <p14:creationId xmlns:p14="http://schemas.microsoft.com/office/powerpoint/2010/main" val="1424748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eyebrow">
            <a:extLst xmlns:a="http://schemas.openxmlformats.org/drawingml/2006/main">
              <a:ext uri="{FF2B5EF4-FFF2-40B4-BE49-F238E27FC236}">
                <a16:creationId xmlns:a16="http://schemas.microsoft.com/office/drawing/2014/main" id="{EDBEA8A5-7D48-411A-8B04-3B3ABC3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9DE4DA-AF9F-4F6C-9E14-61C20911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The table gives distance. The map gives context.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495E588-151B-4708-9EDC-687228CF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geography to explain operational density, not merely mileage.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4904C-03C4-4F47-849C-DE3415E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AE7B86-78E5-4E70-9017-0C3B8034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F0466F-E3FC-4D83-92A5-D148D5A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THE GRAPHIC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250A01-4024-4741-B343-82EEAFF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Existing service locations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D4A1C3-056C-482D-8652-5A43DA6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Operational proximity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854C-3B79-4583-9AC9-D4C6D9A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D25F-554E-44BC-81BF-0A100A41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670469-17D8-430F-B46B-3CF0347A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location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47C229-3039-4E51-9D18-0EFD8438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FD619-656F-4512-B8F0-A92A112D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6EF4D-BACE-4339-8620-E6D20E4F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608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1BE8453-299E-4955-8CD8-39BFC64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418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Ridgeview Library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0A1324-6DE5-485E-96A9-0A20B18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6418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2.3 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6F59D-B816-4269-90D8-50AC8FF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711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DD103-8FF8-43B2-B57F-8544456D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711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076FE36-E40C-4433-86BD-6E874B85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521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Northgate Senior Center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622EB92-489F-4946-98C5-98C2EDB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521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3.7 mi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3EB35-BF42-421F-9579-36B152DD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814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18657-AAF8-4611-8F47-469A328E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814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E940F8-4396-49FA-8D7E-A619F05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624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Cedar Park Offices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DAF99F8-53F8-411B-A443-1AEFE43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624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5.5 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B72A1-DF1C-48C7-B201-824958D0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917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5CD48-96AA-45CF-AD73-5A35044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917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05BED47-4165-40A6-A58C-3FF807D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727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Lakeside Public Works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97EECC9-8D9E-430D-9676-3FFD531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727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6.6 mi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34CB167-8C9F-4BE5-B0AF-19DAD80C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Best for lookup and comparison</a:t>
            </a:r>
          </a:p>
        </p:txBody>
      </p:sp>
      <p:sp>
        <p:nvSpPr>
          <p:cNvPr id="30" name="map-frame">
            <a:extLst xmlns:a="http://schemas.openxmlformats.org/drawingml/2006/main">
              <a:ext uri="{FF2B5EF4-FFF2-40B4-BE49-F238E27FC236}">
                <a16:creationId xmlns:a16="http://schemas.microsoft.com/office/drawing/2014/main" id="{25059048-24B4-4614-AB7E-497A590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62293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AF1E7"/>
          </a:solidFill>
          <a:ln xmlns:a="http://schemas.openxmlformats.org/drawingml/2006/main" w="9525">
            <a:solidFill>
              <a:srgbClr val="B7C7B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8D963-8066-44DD-B73C-E429EDE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48000"/>
            <a:ext cx="542925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1F42D-F1E6-4DEA-8DC5-3C1455D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81012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A02E51-CD1E-4C68-A14E-9B326D96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72D4F-517A-49A4-AB10-F518BAD7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38625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F24D2-F0F5-4570-ABCB-A100E64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48075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6A2E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B6FE15-DB89-488D-8792-008BB84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62275"/>
            <a:ext cx="166687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8FF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F0B4AD-7ADF-40E6-89BE-DAB11488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28925"/>
            <a:ext cx="20764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8FF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E3D49-0505-46AC-87BC-54A5C04B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48075"/>
            <a:ext cx="192405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8FF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D45F5-A670-4CD8-B8A8-A823358F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48075"/>
            <a:ext cx="238125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8FF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02A33F-F6EA-4719-A8BD-52F18D7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51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★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969DD34C-0607-4092-9FED-3BB2199B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005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A2E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364096-DAA4-4352-8C70-A9F8E8E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43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D1DC2C0-6C6E-43C9-AE61-10B47EA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2.3 mi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EB9280-1D70-449F-9053-6F4FDD39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7D1CA7A6-638D-449C-96D2-30AD8536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765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3.7 mi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339388-61D8-43DD-9ED6-81952CBF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CC68B383-3F1E-4C69-B6F8-4499AF2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339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5.5 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81C05-C0B7-4B71-97B7-3CCEAE72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9C0C0C49-946E-4508-B106-C9ABF1C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101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6.6 mi</a:t>
            </a:r>
          </a:p>
        </p:txBody>
      </p:sp>
      <p:sp>
        <p:nvSpPr>
          <p:cNvPr id="50" name="map-takeaway">
            <a:extLst xmlns:a="http://schemas.openxmlformats.org/drawingml/2006/main">
              <a:ext uri="{FF2B5EF4-FFF2-40B4-BE49-F238E27FC236}">
                <a16:creationId xmlns:a16="http://schemas.microsoft.com/office/drawing/2014/main" id="{18A6F031-96C7-4BD5-9CA3-CD905D7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35433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4BAAC3CA-CDC5-472E-8B57-3EAB0A1C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323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0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All locations are within approximately 2–7 miles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EDCFA955-D104-4F9B-BEB1-9575A4D8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54EE8878-DB8B-42AE-AF80-2502079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0960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eyebrow">
            <a:extLst xmlns:a="http://schemas.openxmlformats.org/drawingml/2006/main">
              <a:ext uri="{FF2B5EF4-FFF2-40B4-BE49-F238E27FC236}">
                <a16:creationId xmlns:a16="http://schemas.microsoft.com/office/drawing/2014/main" id="{F39E856E-2B75-41B4-966F-16FA265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38C554-920C-4191-B09C-09B6BEA4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 list of topics is not the same as a readiness plan.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C64B8DF-242F-4FED-87F6-A9B9DAA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Show the sequence that turns a new employee into a prepared team 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1A71B-B1E8-46D1-8CD9-FB774A57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2EE908-9DFE-4458-B981-A1A81B5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0D75CC-5A2F-4A15-B1B8-6F9F75B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THE GRAPHIC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5D0337F-9648-41A6-809F-819E1033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Required training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E84D77B-0CA0-422D-BEA1-B9DEDDB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Five-step readiness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6FE2D-CABE-4082-9833-A202C8F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38679-E3AE-42AC-B460-A57BB68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5D61D6-3E59-4683-AE98-077BA74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topic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BF9C39-4450-45F5-8B55-97FC09B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EA25E-273E-4D50-A432-F7ED14F4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25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C4E1C-1AE3-4BA9-9E2F-44D94AF0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225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AFE7C8-7CE0-4A54-A826-C5E4F398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06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Company orientation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A05814-0074-4EB8-B508-F9B66E8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606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HR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A9BD4-2994-4507-823E-FAFA70BD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010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C9062-238D-42F0-93C1-1C8271E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010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8A0B694-C7A9-4C00-8BA5-B610843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820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Site procedures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C2432B-CC8C-4F28-9702-306256E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820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FECFF-6F19-40E4-9C69-C21E977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EA2D1-AAC5-4F58-B38E-E24A8AED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160CF05-445C-468F-85DE-29540430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Equipment methods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63DBBE9-D6A5-4E53-B46D-157452A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9572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Trainer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EA21B-67C0-4057-9C04-83647990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1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AC420-57E5-46FE-90EF-175BC53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51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35EAEC9-D111-496D-8A04-1CB2DBE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32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Safety and chemicals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1D5B72E-5EC4-4A01-B034-C5454C06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32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Safety Lead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4129D-767D-4C0A-8ADC-F9CE966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6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7E9F5-9201-4B75-BACB-D27DF4D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26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4B9CE6C-91CC-4D9A-8DC5-70A0760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07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Quality refresher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1E68726-DFC1-462E-8036-55D63D1E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307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65FF553-F7AF-466C-826C-6B40546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Best for lookup and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A0A0E-12D4-477C-AE86-D499BBF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14700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15A6BC-001F-4085-9924-9257164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14700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86CBE-848F-40A7-B1B4-2462C53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14700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DA9538-C7FE-41BF-B81B-AB4AF8D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14700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9100"/>
          </a:solidFill>
          <a:ln xmlns:a="http://schemas.openxmlformats.org/drawingml/2006/main" w="0">
            <a:solidFill>
              <a:srgbClr val="D39100"/>
            </a:solidFill>
            <a:prstDash val="solid"/>
          </a:ln>
        </p:spPr>
      </p:sp>
      <p:sp>
        <p:nvSpPr>
          <p:cNvPr id="38" name="step-1">
            <a:extLst xmlns:a="http://schemas.openxmlformats.org/drawingml/2006/main">
              <a:ext uri="{FF2B5EF4-FFF2-40B4-BE49-F238E27FC236}">
                <a16:creationId xmlns:a16="http://schemas.microsoft.com/office/drawing/2014/main" id="{0B1641AB-AD62-4FE4-A7B9-EE439C7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1028700" cy="16192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2394D6-FE25-499A-A91D-C529697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52B45B0-D306-494C-8AC6-E298AB26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ORIENT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C0EB777-3CCE-4D7E-B3CD-DBB24145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480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Policies &amp; roles</a:t>
            </a:r>
          </a:p>
        </p:txBody>
      </p:sp>
      <p:sp>
        <p:nvSpPr>
          <p:cNvPr id="42" name="step-2">
            <a:extLst xmlns:a="http://schemas.openxmlformats.org/drawingml/2006/main">
              <a:ext uri="{FF2B5EF4-FFF2-40B4-BE49-F238E27FC236}">
                <a16:creationId xmlns:a16="http://schemas.microsoft.com/office/drawing/2014/main" id="{EF3358E2-D2B1-4880-8A73-50EE4AA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1028700" cy="16192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8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1AAFB4-9B06-4041-A48C-5FC1EB85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438B0C0-691C-4B7C-AFB8-FBD4358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48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SITE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19D6D73E-E9C1-41D3-8F99-F000ABC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Access &amp; priorities</a:t>
            </a:r>
          </a:p>
        </p:txBody>
      </p:sp>
      <p:sp>
        <p:nvSpPr>
          <p:cNvPr id="46" name="step-3">
            <a:extLst xmlns:a="http://schemas.openxmlformats.org/drawingml/2006/main">
              <a:ext uri="{FF2B5EF4-FFF2-40B4-BE49-F238E27FC236}">
                <a16:creationId xmlns:a16="http://schemas.microsoft.com/office/drawing/2014/main" id="{0BD0A2D5-8738-468A-AEC7-C75FE9AB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1028700" cy="16192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B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2F0576-0DA1-42BB-AEC9-32CB596A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B062F748-CAB3-48CB-9D23-B877047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48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8B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D8B55"/>
                </a:solidFill>
                <a:latin typeface="Aptos"/>
                <a:ea typeface="Aptos"/>
                <a:cs typeface="Aptos"/>
              </a:rPr>
              <a:t>EQUIP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D25064F5-9347-4C61-8048-BFA8AA02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Methods &amp; tools</a:t>
            </a:r>
          </a:p>
        </p:txBody>
      </p:sp>
      <p:sp>
        <p:nvSpPr>
          <p:cNvPr id="50" name="step-4">
            <a:extLst xmlns:a="http://schemas.openxmlformats.org/drawingml/2006/main">
              <a:ext uri="{FF2B5EF4-FFF2-40B4-BE49-F238E27FC236}">
                <a16:creationId xmlns:a16="http://schemas.microsoft.com/office/drawing/2014/main" id="{38117F3C-7059-45DB-96CC-A268BF8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028700" cy="16192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69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DD1F99-4E4F-407C-97A6-94044435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51339DA8-A353-43DB-B0C0-CEB15931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48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69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694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1E43E24B-CC2E-48A9-8BC6-DD20E7FF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PPE &amp; SDS</a:t>
            </a:r>
          </a:p>
        </p:txBody>
      </p:sp>
      <p:sp>
        <p:nvSpPr>
          <p:cNvPr id="54" name="step-5">
            <a:extLst xmlns:a="http://schemas.openxmlformats.org/drawingml/2006/main">
              <a:ext uri="{FF2B5EF4-FFF2-40B4-BE49-F238E27FC236}">
                <a16:creationId xmlns:a16="http://schemas.microsoft.com/office/drawing/2014/main" id="{9BC351F9-9DC1-4C28-8353-FB2E437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1028700" cy="16192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91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19CD7A-1A46-4221-8854-7E410AA3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100"/>
          </a:solidFill>
          <a:ln xmlns:a="http://schemas.openxmlformats.org/drawingml/2006/main" w="0">
            <a:solidFill>
              <a:srgbClr val="D39100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54C91C62-F011-476F-9758-562F555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48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391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39100"/>
                </a:solidFill>
                <a:latin typeface="Aptos"/>
                <a:ea typeface="Aptos"/>
                <a:cs typeface="Aptos"/>
              </a:rPr>
              <a:t>REFRESH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060123FB-8FAF-43CE-8D40-A154DC4A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480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Coach &amp; improve</a:t>
            </a:r>
          </a:p>
        </p:txBody>
      </p:sp>
      <p:sp>
        <p:nvSpPr>
          <p:cNvPr id="58" name="training-takeaway">
            <a:extLst xmlns:a="http://schemas.openxmlformats.org/drawingml/2006/main">
              <a:ext uri="{FF2B5EF4-FFF2-40B4-BE49-F238E27FC236}">
                <a16:creationId xmlns:a16="http://schemas.microsoft.com/office/drawing/2014/main" id="{5B160172-130F-4946-B3A9-C41DC2F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F78FF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44A95080-C0C3-412B-BAF3-42CAC130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43450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The graphic shows progression, ownership, and the intended outcome.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E4E48DA7-AD67-47C0-A715-B96A452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FF876D90-89C6-4740-BA1E-2D1F273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8354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eyebrow">
            <a:extLst xmlns:a="http://schemas.openxmlformats.org/drawingml/2006/main">
              <a:ext uri="{FF2B5EF4-FFF2-40B4-BE49-F238E27FC236}">
                <a16:creationId xmlns:a16="http://schemas.microsoft.com/office/drawing/2014/main" id="{420AE17D-2056-4599-9554-B25950E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535C9-6112-4D74-B9C3-2DB6FD45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Quality assurance is a loop, not a checklist.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0A6A883-7476-4D5F-A9BF-A25EBEAC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cycle makes follow-through and continuous improvement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4920-86FC-429A-A1F2-E26CAD4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3B2EBC-CAC4-4D41-BD08-8FEFB1B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3F4036-D9EB-4C26-9C27-1AEA802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THE GRAPHIC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32C759-D686-4289-AE52-A4F6613F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Quality activities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B6145A-12C7-4B83-AD36-EBC96ACC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Corrective-action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7AEFD-9147-4EA6-BB61-BFEA5DB5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E25E1-CFBE-4F74-AC47-B241431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D595BE-882D-48A5-A1E2-6CC8D51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6708DDA-5305-4B37-899D-0AB913E4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CA8AC-6840-4DB0-B1CF-C39C1DF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25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924F9-E3BC-47E3-893F-A95F2B1E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225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9FA0914-0D22-40CE-A039-6F5EECF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06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3B3414-B450-48B0-AE9B-24BB0B6C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606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Review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662B6-26E1-401F-85B1-8A495CF9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010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E18C7-C1EB-45A0-A8AB-26E461FB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010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A68ED5-5BF9-4B51-BAF8-7BEE81B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820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089A9B-32A7-430D-8EC3-CDB075D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820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Record 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AD953-8D3B-4E32-9ABF-82D5F10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D8B48-DAD3-42C2-BCAF-AF59CEE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7081185-5831-486B-B4FA-B07810D1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251E4B-F9B3-468D-AB93-3013FA74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9572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Resolve 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64F5F-50C2-40A7-831A-D68EC54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1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2D967-35BB-42E7-BBAB-64DE11B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51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9065A3C-9BA3-4A8A-898C-ABEDA49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32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F774823-8529-45A0-A4BF-DC3BC786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32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Confirm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0AD36-7E89-4968-B6A5-F4EDE90E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6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7884C1-5D96-4AC9-8E30-C8229FC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26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D00C0EA-D5D8-42B8-A0F1-68ED928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07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23719D4-F879-467D-B4FA-2054033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307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Prevent recurrence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91DF60E-D052-499C-8570-644AA048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Best for lookup and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59B8FB-B37C-4EC4-8150-21278D70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1775"/>
            <a:ext cx="2552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CE8B9-80B3-43EA-B921-EF492FF3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19450"/>
            <a:ext cx="266700" cy="933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25BF7E-04C6-44A9-8EE7-EE804A62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10075"/>
            <a:ext cx="581025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6A470F-359B-48B5-96B7-463D23D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0075"/>
            <a:ext cx="581025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E2A278-C1BA-4FCF-AE54-35D1AF01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66700" cy="933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</p:sp>
      <p:sp>
        <p:nvSpPr>
          <p:cNvPr id="39" name="qa-step-1">
            <a:extLst xmlns:a="http://schemas.openxmlformats.org/drawingml/2006/main">
              <a:ext uri="{FF2B5EF4-FFF2-40B4-BE49-F238E27FC236}">
                <a16:creationId xmlns:a16="http://schemas.microsoft.com/office/drawing/2014/main" id="{3A63D7D3-4670-44D7-9EFF-35B4A60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13716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EAD2FB-9CB5-42D6-BBBC-ADE5CE2B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08694A7-1195-482F-9F5C-217E5F69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ACBCA931-4FED-43CB-BDAA-8E98BCCB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Review work</a:t>
            </a:r>
          </a:p>
        </p:txBody>
      </p:sp>
      <p:sp>
        <p:nvSpPr>
          <p:cNvPr id="43" name="qa-step-2">
            <a:extLst xmlns:a="http://schemas.openxmlformats.org/drawingml/2006/main">
              <a:ext uri="{FF2B5EF4-FFF2-40B4-BE49-F238E27FC236}">
                <a16:creationId xmlns:a16="http://schemas.microsoft.com/office/drawing/2014/main" id="{2284794B-792F-4EAC-88DB-E3C9B541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24125"/>
            <a:ext cx="13716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688462-B2C2-490D-8720-3E400FC8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19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13EB4BA-0FC9-4888-BD4F-9B93181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5908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C56CCF75-3B54-4026-A541-238B092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0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Record issue</a:t>
            </a:r>
          </a:p>
        </p:txBody>
      </p:sp>
      <p:sp>
        <p:nvSpPr>
          <p:cNvPr id="47" name="qa-step-3">
            <a:extLst xmlns:a="http://schemas.openxmlformats.org/drawingml/2006/main">
              <a:ext uri="{FF2B5EF4-FFF2-40B4-BE49-F238E27FC236}">
                <a16:creationId xmlns:a16="http://schemas.microsoft.com/office/drawing/2014/main" id="{F9AB8B28-E5FA-406E-8350-25819DB5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52900"/>
            <a:ext cx="13716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6A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813D39-65AE-42CA-A3EC-AFB24DC3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ECA746C8-35BD-4AF4-BDD9-D261BD41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19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A2E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63329A53-0477-40A4-81F8-BB6F1427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429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Resolve gap</a:t>
            </a:r>
          </a:p>
        </p:txBody>
      </p:sp>
      <p:sp>
        <p:nvSpPr>
          <p:cNvPr id="51" name="qa-step-4">
            <a:extLst xmlns:a="http://schemas.openxmlformats.org/drawingml/2006/main">
              <a:ext uri="{FF2B5EF4-FFF2-40B4-BE49-F238E27FC236}">
                <a16:creationId xmlns:a16="http://schemas.microsoft.com/office/drawing/2014/main" id="{E2E77089-89E4-4840-B128-C803EAA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52900"/>
            <a:ext cx="13716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69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995947-8157-4496-942B-1239848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FD0DAF1D-9AF7-4599-8B74-F9DEF58A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9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9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694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643ED44E-9B37-4BB4-BF4C-AAC72B66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29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82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Confirm result</a:t>
            </a:r>
          </a:p>
        </p:txBody>
      </p:sp>
      <p:sp>
        <p:nvSpPr>
          <p:cNvPr id="55" name="qa-step-5">
            <a:extLst xmlns:a="http://schemas.openxmlformats.org/drawingml/2006/main">
              <a:ext uri="{FF2B5EF4-FFF2-40B4-BE49-F238E27FC236}">
                <a16:creationId xmlns:a16="http://schemas.microsoft.com/office/drawing/2014/main" id="{B7152583-9A94-46CC-8E64-31FFA05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13716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B5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E508F5-F54B-4CF6-9D4C-BC9DDAA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DC6878B8-FDFA-41AC-95D9-21AFC47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9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8B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D8B55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4238D63C-CE46-4B4E-8A43-DB8549FC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29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Prevent recurrence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F8BD41-D8FC-493E-9399-2076ECA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337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QA</a:t>
            </a:r>
          </a:p>
        </p:txBody>
      </p:sp>
      <p:sp>
        <p:nvSpPr>
          <p:cNvPr id="60" name="qa-takeaway">
            <a:extLst xmlns:a="http://schemas.openxmlformats.org/drawingml/2006/main">
              <a:ext uri="{FF2B5EF4-FFF2-40B4-BE49-F238E27FC236}">
                <a16:creationId xmlns:a16="http://schemas.microsoft.com/office/drawing/2014/main" id="{E8A0288C-F204-47CB-AA6F-E6125862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10150"/>
            <a:ext cx="40386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F58F986E-BB9E-4AF1-8D7B-51CF5A82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76825"/>
            <a:ext cx="377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 → identify → correct → verify → improve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8860A890-A2D4-41EB-B0A8-356232F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7197DB61-5472-4AF2-B761-CCE36DF1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2327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48096585-BBCD-40F5-8BC1-AA148C7D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B103EF-30FA-4AF8-A17C-5A4A41C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39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An org table names people. A flow shows how work moves.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DEBD2B3-5572-4F9E-9E94-983E0158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hierarchy when the reader needs to understand ownership and escalation.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51181-6477-478C-BEC3-A111AA9D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921BA2-A6A2-41A3-B785-35A3008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E40F88-4333-4CCC-B748-DE6F159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THE GRAPHIC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9879E2-7BCB-48D2-9889-5E66256C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Communication responsibilities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9CA518-242E-4EBA-A26E-F2C5A86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Escalation and reporting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32CFF-7184-4DD6-9476-A6FBED8F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09472-E0A0-4384-ACF1-CEAB735B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CA7CA5-D0D3-4DED-AAAF-4F0A6C9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9CB7E5-F978-49BE-860F-2F2A421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A542C-04B2-47CB-AB4B-D6EEBE2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AD3DB-44EB-4D72-AB56-2A4EC3DC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2608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F7F87C-9CF7-41C8-B27E-44242C7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418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Onsite crew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551AA2-AF41-4938-8742-4F2FFBFF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6418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Report issues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4F486-5896-45B8-B5C9-2FC1FC1E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711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CFC14-2FC1-4AC5-A416-BF9C218B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711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2D70FF-12F9-4ED0-8A16-3A29DA7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521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Client contact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2C1DA5-E786-495C-849B-23413500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521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Set priorities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5C851-74F1-4286-BFC5-C7E19C91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814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E7BEB-C352-4253-A664-6B595C5F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814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857CA71-9F8A-402A-A213-7B108D05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624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Field supervisor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2D79BE-90DA-441E-BD21-95383C1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624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Coordinate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78EA8-D756-4EE7-9C9A-B7A73EB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9170"/>
            <a:ext cx="274320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5045E-A1D5-444F-B65C-4B47E41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89170"/>
            <a:ext cx="1543050" cy="621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0368BEB-FAF7-4786-9C42-09941748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7270"/>
            <a:ext cx="255270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Operations lead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21EF656-4A40-40D2-94C3-142AF81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7270"/>
            <a:ext cx="139065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Resolve escalation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ABEFC87-0C7A-4EAB-A407-7167600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Best for lookup and comparison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9DD3A7-6503-4335-A1CE-E8BF152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4322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5DE9E8-A1EC-4AD3-96E8-49D5FC50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957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A90BF9-E2AF-4DA0-8590-77D57AB5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481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</p:sp>
      <p:sp>
        <p:nvSpPr>
          <p:cNvPr id="33" name="comm-1">
            <a:extLst xmlns:a="http://schemas.openxmlformats.org/drawingml/2006/main">
              <a:ext uri="{FF2B5EF4-FFF2-40B4-BE49-F238E27FC236}">
                <a16:creationId xmlns:a16="http://schemas.microsoft.com/office/drawing/2014/main" id="{2B67FC98-B58E-4097-9078-359709C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B62DE7-6D23-4D81-943B-11E5C64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47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FCED9EB-5CD8-4BF2-8A87-C96FF9A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288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ONSITE CREW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BA7CDA2-09BE-4A7D-8A4E-8A9520A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638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Complete work and report</a:t>
            </a:r>
          </a:p>
        </p:txBody>
      </p:sp>
      <p:sp>
        <p:nvSpPr>
          <p:cNvPr id="37" name="comm-2">
            <a:extLst xmlns:a="http://schemas.openxmlformats.org/drawingml/2006/main">
              <a:ext uri="{FF2B5EF4-FFF2-40B4-BE49-F238E27FC236}">
                <a16:creationId xmlns:a16="http://schemas.microsoft.com/office/drawing/2014/main" id="{D630AB8B-E30A-4D76-A51E-9E37AED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8B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6E62D5-968E-40D3-B3F6-4A802AF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B3917FB-18E3-4758-8562-BC1FAB20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B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D8B55"/>
                </a:solidFill>
                <a:latin typeface="Aptos"/>
                <a:ea typeface="Aptos"/>
                <a:cs typeface="Aptos"/>
              </a:rPr>
              <a:t>CLIENT CONTACT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2AC596D-18F2-45F8-90CB-02771D1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0425"/>
            <a:ext cx="3638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Share priorities and concerns</a:t>
            </a:r>
          </a:p>
        </p:txBody>
      </p:sp>
      <p:sp>
        <p:nvSpPr>
          <p:cNvPr id="41" name="comm-3">
            <a:extLst xmlns:a="http://schemas.openxmlformats.org/drawingml/2006/main">
              <a:ext uri="{FF2B5EF4-FFF2-40B4-BE49-F238E27FC236}">
                <a16:creationId xmlns:a16="http://schemas.microsoft.com/office/drawing/2014/main" id="{4A879A43-3653-488F-A748-7B3C867E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69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36A010-72DC-4143-968C-EE62A0B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B38BF4B9-E131-446E-8FBE-51D26B94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338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69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694"/>
                </a:solidFill>
                <a:latin typeface="Aptos"/>
                <a:ea typeface="Aptos"/>
                <a:cs typeface="Aptos"/>
              </a:rPr>
              <a:t>FIELD SUPERVISOR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CC19C06-CA87-4BC7-BC51-B6CCBD4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3638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Coordinate corrective action</a:t>
            </a:r>
          </a:p>
        </p:txBody>
      </p:sp>
      <p:sp>
        <p:nvSpPr>
          <p:cNvPr id="45" name="comm-4">
            <a:extLst xmlns:a="http://schemas.openxmlformats.org/drawingml/2006/main">
              <a:ext uri="{FF2B5EF4-FFF2-40B4-BE49-F238E27FC236}">
                <a16:creationId xmlns:a16="http://schemas.microsoft.com/office/drawing/2014/main" id="{A78F3AE4-2FEB-4035-A06F-367BEF9D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6A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21D4F9-76C2-4550-BEF9-60589447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05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EC182FEE-60BD-47AB-85A7-BCADC584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6A2E"/>
                </a:solidFill>
                <a:latin typeface="Aptos"/>
                <a:ea typeface="Aptos"/>
                <a:cs typeface="Aptos"/>
              </a:rPr>
              <a:t>OPERATIONS LEAD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4C74E828-E34B-4250-8014-6B4C48E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05375"/>
            <a:ext cx="3638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Resolve escalated issues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22C17CAC-E53F-4A34-AE61-28D7113E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The reader can see where an issue starts, who owns the response, and when it escalates.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1837BCF6-626D-4337-B517-5C69BD7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3DEB3814-04AF-43E7-A0DC-F099D865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3852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eyebrow">
            <a:extLst xmlns:a="http://schemas.openxmlformats.org/drawingml/2006/main">
              <a:ext uri="{FF2B5EF4-FFF2-40B4-BE49-F238E27FC236}">
                <a16:creationId xmlns:a16="http://schemas.microsoft.com/office/drawing/2014/main" id="{51A73019-168A-44BA-9BC9-391EAFFA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2ACFA3-81C9-4CDF-ADE5-4178D32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 task list records work. A timeline creates confidence.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21D7FB2-4CF0-49C1-BF2B-32EC6AA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Show how the team moves from contract award to stable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8883F-AB08-43DC-AE49-5B17741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D2A8ECA-E5D2-4BFA-BB35-8F21EA4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TABLE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07FB9D-A513-4269-A80C-6956DF4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9725"/>
            <a:ext cx="622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THE GRAPHIC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FEF968-6722-4E83-BD5C-1EA1954F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Transition tasks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FBEE2A-BE1B-4728-A477-FF074F46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76425"/>
            <a:ext cx="622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Award-to-launch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FFA2C-EC5C-4597-B11E-3780D925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E0BEA-7E43-439F-948B-C9B7960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620209-FBC7-4955-90B4-E563049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33471C-C1EA-4354-B8C4-4229B214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7C14E-7D7D-4798-8C67-9062551E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25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5F7A1-8469-4CDF-BFA4-967E49BA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225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84F82BE-19BF-4073-898D-C17252D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06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Confirm contacts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A0129E-BDEA-467B-8A44-F1C0368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606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897AB-630E-43FF-9C5A-A85D178E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010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24D86-DC67-4B01-B9F8-62B5796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010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66F42F2-1BAF-4509-BDAA-60A758E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820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Validate site plan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597E740-F5D1-4E09-B3D7-76DAC6A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820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Day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1F4F9-B87A-450A-B1E8-64440F5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A4D52-DC9D-4768-A350-66E2E03A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16B8BDF-EC3B-437B-A631-C4DC1BB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Prepare staff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2D1AD06-6A97-47E0-8F77-2D3F1051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9572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08AFC-463C-45EE-BC7D-40B0F13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150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2FC212-006E-47C6-A28A-9461E81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5150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A577FAB-7C7F-4F66-884E-6E0DC3E9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3250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Launch service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30335CE-C998-409C-863F-C5F4C8F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13250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Day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1D0C4-67DF-4B4B-B906-EE1A3AFC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675"/>
            <a:ext cx="274320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1AE5E4-3760-4FE9-B896-2BE6E3C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2675"/>
            <a:ext cx="1543050" cy="51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D9D6F92-2CE2-4780-B2D1-B974CA1B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0775"/>
            <a:ext cx="25527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Review performance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6036B70-9B24-4005-9D42-C1C846BE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30775"/>
            <a:ext cx="13906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023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3B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9CDA7C7-0302-4BC9-A430-3E1CF20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Best for lookup and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ED3EE-D3BD-4962-BC06-AD9BD209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500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C3413-31C7-4B94-B195-5E85569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B46BA94-5621-4594-8CAE-2578B633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62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AWARD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6CECA2C-F3ED-4BE2-B808-E5E41BD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438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550E87-526D-4F98-8CDF-55AF1CA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D86C2EB8-0DA5-42B5-A84A-40C19D9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62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8B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D8B55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7871041-DE40-4FFD-9118-0B9BB5D3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38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DAY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015C7D-30D2-4FD0-92CF-A5431E2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9EBCF9E2-5293-43DA-B033-61D5AC45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62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69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694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9DB591C9-D249-49CC-92FD-4F755B1D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38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4FEF5F-843C-46F3-8C44-DD8CBAC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05C06E8E-B49B-4A7A-971A-E7181E9F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62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50957A83-1B34-499E-A9AC-8E4251E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38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DAY 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EDE5F5-8024-4C98-8B73-C7A8D2F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90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93297AEE-0409-4A19-9FEB-CA700AB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162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6A2E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5DAB59EA-093E-457E-9988-4151D121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438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50" name="transition-takeaway">
            <a:extLst xmlns:a="http://schemas.openxmlformats.org/drawingml/2006/main">
              <a:ext uri="{FF2B5EF4-FFF2-40B4-BE49-F238E27FC236}">
                <a16:creationId xmlns:a16="http://schemas.microsoft.com/office/drawing/2014/main" id="{DCDDB575-F3E4-40F3-BD08-5DC0214B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3790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E3DF5D0E-2E9B-4A96-9FE3-692FB071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57775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744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sequence makes readiness feel planned, not promised.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44376E23-DEE4-4F08-B650-AFE1EEEA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1A860A2A-3DD4-457C-AAB7-A4FE2F68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9847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E67BCB82-B840-452E-99DE-34DA4EF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LESSONS FROM THE BID DESK  /  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2A9208-536F-4DD0-8C90-283FFD2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Choose the format based on the reader’s job.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F992C93-C5EB-4026-9869-5A4E6B4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Start with the question, then steal, recolor, and rewrite any shape in this deck.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EE2EC-7282-4382-8022-A738C8A5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B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8E1AB-BBB8-40DF-9A1D-CCDB9CCB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08BA83-D486-45CD-A853-E9B8F88F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8AFB74-41E4-4BCF-A739-A3B1A79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1E3DE9-0B25-41E3-9AF4-30A2E14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66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Pricing • requirements • staffing schedules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F496B-5305-42E1-94D9-5AA0615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62B09-00AE-480D-AD42-508F7AB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solidFill>
              <a:srgbClr val="F26A2E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1D3B30-4D2F-4594-A4E2-779E297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6A2E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687574-E527-42E6-AE78-C58B618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0A6E6B-460F-49C8-BAA9-81600AE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Proximity • coverage • regional density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45CBC-2424-4589-BCC9-08C8E03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06571-9AA0-47DF-9209-A0A44D0E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B55"/>
          </a:solidFill>
          <a:ln xmlns:a="http://schemas.openxmlformats.org/drawingml/2006/main" w="0">
            <a:solidFill>
              <a:srgbClr val="4D8B55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B88D30-1621-49F3-9CAD-F578D2D4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8B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D8B55"/>
                </a:solidFill>
                <a:latin typeface="Aptos"/>
                <a:ea typeface="Aptos"/>
                <a:cs typeface="Aptos"/>
              </a:rPr>
              <a:t>FOLLOW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6494F4-E7D2-4233-9355-665028A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1E42CE-E0AA-41D0-B8B1-6136BA3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• approvals • quality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650DB-5FCF-4896-874B-601772F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97870-5C3A-4F56-B9A5-7265913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94"/>
          </a:solidFill>
          <a:ln xmlns:a="http://schemas.openxmlformats.org/drawingml/2006/main" w="0">
            <a:solidFill>
              <a:srgbClr val="168694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3F70D23-A43D-4519-8C13-4E7A1671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69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694"/>
                </a:solidFill>
                <a:latin typeface="Aptos"/>
                <a:ea typeface="Aptos"/>
                <a:cs typeface="Aptos"/>
              </a:rPr>
              <a:t>ESCALATE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B11AC4-C96A-4688-BB06-6113227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95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EEAED63-1C76-459C-85BB-A5520096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Ownership • communication • 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FB284-B0EA-4CB4-B2EB-960E3857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F6BF6-2774-4412-9A70-C8CBD049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8FF"/>
          </a:solidFill>
          <a:ln xmlns:a="http://schemas.openxmlformats.org/drawingml/2006/main" w="0">
            <a:solidFill>
              <a:srgbClr val="1F78FF"/>
            </a:solidFill>
            <a:prstDash val="solid"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7F009A7-37FF-4CB8-825C-93173966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78FF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A5D67C-8CC9-44B6-A859-BCB44FC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38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83B9625-FF65-4819-AB11-E2983827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Mobilization • milestones • transition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1CAFB-702E-4262-939B-4D67840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final-rule">
            <a:extLst xmlns:a="http://schemas.openxmlformats.org/drawingml/2006/main">
              <a:ext uri="{FF2B5EF4-FFF2-40B4-BE49-F238E27FC236}">
                <a16:creationId xmlns:a16="http://schemas.microsoft.com/office/drawing/2014/main" id="{A781478B-E5D1-45E9-B4A9-6A1AB96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8E19959-BFFF-4951-830F-EBCC2BEC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Am I helping the reader compare information, or understand an idea?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7E870F3-B80A-4D32-ACF5-B1BF7CC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MICHAEL NGO  •  PROPOSAL GRAPHIC STARTER KIT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C5E529E-1295-4C2C-8111-1E60014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6137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2026-09-04T04:00:37.5380000Z</dcterms:created>
  <dcterms:modified xsi:type="dcterms:W3CDTF">2026-09-04T04:00:37.5380000Z</dcterms:modified>
</coreProperties>
</file>